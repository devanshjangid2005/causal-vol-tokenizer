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 rIns="36576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Quantifying Look-Ahead Bias via Causal, Volatility-Aware Motif Tokenization in Financial Time Series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DA4022 Course Project Midterm Progress Report  |  Team of 5  |  Oct 15, 2026 Submission  |  Scope: Sept 22 – Oct 14 Sprint &amp; Beyond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56616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900" b="1">
                <a:solidFill>
                  <a:srgbClr val="1E40AF"/>
                </a:solidFill>
              </a:defRPr>
            </a:pPr>
            <a:r>
              <a:t>CORE RESEARCH QUESTION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How much does each look-ahead leakage channel (windowing, merge/decode tables, non-incremental token boundaries, FFT) artificially inflate walk-forward realized volatility forecasts in BPE-based foundation models?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286000"/>
            <a:ext cx="35661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950" b="1">
                <a:solidFill>
                  <a:srgbClr val="0A192F"/>
                </a:solidFill>
              </a:defRPr>
            </a:pPr>
            <a:r>
              <a:t>SYSTEM ARCHITECTURE &amp; THE 5 LEAK SWITCHES</a:t>
            </a:r>
          </a:p>
        </p:txBody>
      </p:sp>
      <p:pic>
        <p:nvPicPr>
          <p:cNvPr id="5" name="Picture 4" descr="pipeline_leak_swi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606040"/>
            <a:ext cx="3383280" cy="13779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434340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750" b="1">
                <a:solidFill>
                  <a:srgbClr val="166534"/>
                </a:solidFill>
              </a:defRPr>
            </a:pPr>
            <a:r>
              <a:t>• Causal Reference (Leak-Free):</a:t>
            </a:r>
          </a:p>
          <a:p>
            <a:pPr>
              <a:defRPr sz="750" b="0">
                <a:solidFill>
                  <a:srgbClr val="0F172A"/>
                </a:solidFill>
              </a:defRPr>
            </a:pPr>
            <a:r>
              <a:t>  Trailing EWMA vol normalization + UniTok hourly scale tokens (hard boundaries) + Götz BPE within-hour + Trailing RoV×SEI gate.</a:t>
            </a:r>
          </a:p>
          <a:p>
            <a:pPr>
              <a:defRPr sz="750" b="1">
                <a:solidFill>
                  <a:srgbClr val="DC2626"/>
                </a:solidFill>
              </a:defRPr>
            </a:pPr>
            <a:r>
              <a:t>• 5 Audited Leakage Channels (switched 1-at-a-time):</a:t>
            </a:r>
          </a:p>
          <a:p>
            <a:pPr>
              <a:defRPr sz="750" b="0">
                <a:solidFill>
                  <a:srgbClr val="0F172A"/>
                </a:solidFill>
              </a:defRPr>
            </a:pPr>
            <a:r>
              <a:t>  1. Per-window normalization using future horizon std</a:t>
            </a:r>
          </a:p>
          <a:p>
            <a:pPr>
              <a:defRPr sz="750" b="0">
                <a:solidFill>
                  <a:srgbClr val="0F172A"/>
                </a:solidFill>
              </a:defRPr>
            </a:pPr>
            <a:r>
              <a:t>  2. Merge table fit on full data (test overlap)</a:t>
            </a:r>
          </a:p>
          <a:p>
            <a:pPr>
              <a:defRPr sz="750" b="0">
                <a:solidFill>
                  <a:srgbClr val="0F172A"/>
                </a:solidFill>
              </a:defRPr>
            </a:pPr>
            <a:r>
              <a:t>  3. Conditional decoding table fit on test data</a:t>
            </a:r>
          </a:p>
          <a:p>
            <a:pPr>
              <a:defRPr sz="750" b="0">
                <a:solidFill>
                  <a:srgbClr val="0F172A"/>
                </a:solidFill>
              </a:defRPr>
            </a:pPr>
            <a:r>
              <a:t>  4. Unconstrained BPE token boundary straddling</a:t>
            </a:r>
          </a:p>
          <a:p>
            <a:pPr>
              <a:defRPr sz="750" b="0">
                <a:solidFill>
                  <a:srgbClr val="0F172A"/>
                </a:solidFill>
              </a:defRPr>
            </a:pPr>
            <a:r>
              <a:t>  5. Non-causal centered FFT spectral energy</a:t>
            </a:r>
          </a:p>
          <a:p>
            <a:pPr>
              <a:defRPr sz="750" b="1">
                <a:solidFill>
                  <a:srgbClr val="B91C1C"/>
                </a:solidFill>
              </a:defRPr>
            </a:pPr>
            <a:r>
              <a:t>• Positive Control:</a:t>
            </a:r>
          </a:p>
          <a:p>
            <a:pPr>
              <a:defRPr sz="750" b="0">
                <a:solidFill>
                  <a:srgbClr val="0F172A"/>
                </a:solidFill>
              </a:defRPr>
            </a:pPr>
            <a:r>
              <a:t>  Deliberately gross normalization leak (target RV injection).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188720"/>
            <a:ext cx="434340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50" b="1">
                <a:solidFill>
                  <a:srgbClr val="0A192F"/>
                </a:solidFill>
              </a:defRPr>
            </a:pPr>
            <a:r>
              <a:t>PROGRESS SO FAR: WORKING EMPIRICAL EVIDENCE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All experiments implemented end-to-end on real Binance BTCUSDT 5-min klines &amp; GARCH(1,1) simulator.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691640"/>
            <a:ext cx="416052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737360"/>
            <a:ext cx="4069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E40AF"/>
                </a:solidFill>
              </a:defRPr>
            </a:pPr>
            <a:r>
              <a:t>1. First Leak Evidence: Token Boundary Mismatch (No Model Needed)</a:t>
            </a:r>
          </a:p>
          <a:p>
            <a:pPr>
              <a:defRPr sz="780">
                <a:solidFill>
                  <a:srgbClr val="0F172A"/>
                </a:solidFill>
              </a:defRPr>
            </a:pPr>
            <a:r>
              <a:t>• Tested over 300 walk-forward origins on BTCUSDT:</a:t>
            </a:r>
            <a:br/>
            <a:r>
              <a:t>  - UniTok Hard Boundaries (Our Causal Ref):  0.00% mismatch rate (strictly incremental)</a:t>
            </a:r>
            <a:br/>
            <a:r>
              <a:t>  - Unconstrained Götz BPE (Channel 4):           84.00% mismatch &amp; straddling rate!</a:t>
            </a:r>
            <a:br/>
            <a:r>
              <a:t>• Finding: Naive BPE leaks post-origin information backward into context in 84% of origins.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880360"/>
            <a:ext cx="416052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926080"/>
            <a:ext cx="4069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66534"/>
                </a:solidFill>
              </a:defRPr>
            </a:pPr>
            <a:r>
              <a:t>2. Negative Control: GARCH(1,1) Oracle QLIKE Floor Test</a:t>
            </a:r>
          </a:p>
          <a:p>
            <a:pPr>
              <a:defRPr sz="760">
                <a:solidFill>
                  <a:srgbClr val="0F172A"/>
                </a:solidFill>
              </a:defRPr>
            </a:pPr>
            <a:r>
              <a:t>• Theoretical Property: Analytic E_t[RV_{t+1:t+H}] is strictly optimal under QLIKE loss.</a:t>
            </a:r>
            <a:br/>
            <a:r>
              <a:t>  - Oracle Floor (Analytical Truth):    QLIKE = 0.15096 (95% CI: [0.1364, 0.1635])</a:t>
            </a:r>
            <a:br/>
            <a:r>
              <a:t>  - GARCH(1,1) Estimated (Causal):       QLIKE = 0.15110 (Diff: +0.00014, stays &gt;= floor)</a:t>
            </a:r>
            <a:br/>
            <a:r>
              <a:t>  - HAR-RV Estimated (Causal):             QLIKE = 0.34887 (Diff: +0.19791)</a:t>
            </a:r>
            <a:br/>
            <a:r>
              <a:t>  - Gross Leak (Positive Control):        QLIKE = 0.00505 (Breaks floor by -0.14591, DM p &lt; 1e-10)</a:t>
            </a:r>
            <a:br/>
            <a:r>
              <a:t>• Validates that the test reliably catches look-ahead bias with extreme statistical significance.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160520"/>
            <a:ext cx="4160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A192F"/>
                </a:solidFill>
              </a:defRPr>
            </a:pPr>
            <a:r>
              <a:t>3. Preliminary Fold 1 Next-Hour RV Results (2021 Train -&gt; 2022-Q1 Test)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60520" y="4434840"/>
          <a:ext cx="4160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640080"/>
                <a:gridCol w="777240"/>
                <a:gridCol w="685800"/>
                <a:gridCol w="594360"/>
              </a:tblGrid>
              <a:tr h="287382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Model / Variant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QLIKE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Inflation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DM p-val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</a:defRPr>
                      </a:pPr>
                      <a:r>
                        <a:t>TOST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HAR-RV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0.5428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166534"/>
                          </a:solidFill>
                        </a:defRPr>
                      </a:pPr>
                      <a:r>
                        <a:t>Causal Ref (~1M GPT)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0.6383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REF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Ch 1: Norm Leak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0.5930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DC2626"/>
                          </a:solidFill>
                        </a:defRPr>
                      </a:pPr>
                      <a:r>
                        <a:t>+7.1%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0.416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Ch 2: Merge Leak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0.6384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-0.0%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0.993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Equiv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Ch 4: Boundary Leak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0.5326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DC2626"/>
                          </a:solidFill>
                        </a:defRPr>
                      </a:pPr>
                      <a:r>
                        <a:t>+16.6%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Positive Control (Gross)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0.1963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DC2626"/>
                          </a:solidFill>
                        </a:defRPr>
                      </a:pPr>
                      <a:r>
                        <a:t>+69.2%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&lt; 0.001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0F172A"/>
                          </a:solidFill>
                        </a:defRPr>
                      </a:pPr>
                      <a:r>
                        <a:t>Reject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549640" y="1188720"/>
            <a:ext cx="3319272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 b="1">
                <a:solidFill>
                  <a:srgbClr val="0A192F"/>
                </a:solidFill>
              </a:defRPr>
            </a:pPr>
            <a:r>
              <a:t>ROADMAP TO NOV 26 &amp; TEAM EXECUTION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6-Week Rigorous Execution Schedule to Final 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691640"/>
            <a:ext cx="313639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E40AF"/>
                </a:solidFill>
              </a:defRPr>
            </a:pPr>
            <a:r>
              <a:t>Timeline Strip (Oct 16 - Nov 26 Final):</a:t>
            </a:r>
          </a:p>
          <a:p>
            <a:pPr>
              <a:defRPr sz="730">
                <a:solidFill>
                  <a:srgbClr val="0F172A"/>
                </a:solidFill>
              </a:defRPr>
            </a:pPr>
            <a:r>
              <a:t>• Oct 16–22: Harness &amp; Causality Audit — Complete 6-fold test on all baselines; perturbation pass.</a:t>
            </a:r>
          </a:p>
          <a:p>
            <a:pPr>
              <a:defRPr sz="730">
                <a:solidFill>
                  <a:srgbClr val="0F172A"/>
                </a:solidFill>
              </a:defRPr>
            </a:pPr>
            <a:r>
              <a:t>• Oct 23–29: RoV×SEI Gate &amp; GPT — Ablation of causal PATK gate; multi-horizon 1h &amp; 1d RV.</a:t>
            </a:r>
          </a:p>
          <a:p>
            <a:pPr>
              <a:defRPr sz="730">
                <a:solidFill>
                  <a:srgbClr val="0F172A"/>
                </a:solidFill>
              </a:defRPr>
            </a:pPr>
            <a:r>
              <a:t>• Oct 30–Nov 5: 5 Leak Sweeps — Evaluate all 5 channels across 6 folds; verify negative control.</a:t>
            </a:r>
          </a:p>
          <a:p>
            <a:pPr>
              <a:defRPr sz="730">
                <a:solidFill>
                  <a:srgbClr val="0F172A"/>
                </a:solidFill>
              </a:defRPr>
            </a:pPr>
            <a:r>
              <a:t>• Nov 6–12: Seeds &amp; Statistics — 3-seed runs, Holm-corrected superiority &amp; TOST equivalence.</a:t>
            </a:r>
          </a:p>
          <a:p>
            <a:pPr>
              <a:defRPr sz="730">
                <a:solidFill>
                  <a:srgbClr val="0F172A"/>
                </a:solidFill>
              </a:defRPr>
            </a:pPr>
            <a:r>
              <a:t>• Nov 13–18: Code Freeze &amp; Holdout — Nov 14 code freeze; score sealed 2025 holdout exactly once.</a:t>
            </a:r>
          </a:p>
          <a:p>
            <a:pPr>
              <a:defRPr sz="730">
                <a:solidFill>
                  <a:srgbClr val="0F172A"/>
                </a:solidFill>
              </a:defRPr>
            </a:pPr>
            <a:r>
              <a:t>• Nov 19–26: Final Deliverables — Report synthesis, 5-min video presentation, clean repo.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114800"/>
            <a:ext cx="31363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Team Roles &amp; Division of Labor (Team of 5):</a:t>
            </a:r>
          </a:p>
          <a:p>
            <a:pPr>
              <a:defRPr sz="700">
                <a:solidFill>
                  <a:srgbClr val="0F172A"/>
                </a:solidFill>
              </a:defRPr>
            </a:pPr>
            <a:r>
              <a:t>Member A (Data &amp; Baselines): Binance 5-min archive ingestion, EWMA normalization, RV targets, HAR-RV &amp; GARCH baselines.</a:t>
            </a:r>
          </a:p>
          <a:p>
            <a:pPr>
              <a:defRPr sz="700">
                <a:solidFill>
                  <a:srgbClr val="0F172A"/>
                </a:solidFill>
              </a:defRPr>
            </a:pPr>
            <a:r>
              <a:t>Member B (Tokenizer &amp; Causality): Götz BPE, UniTok hour-boundary constraint, future-perturbation &amp; mismatch rate audit.</a:t>
            </a:r>
          </a:p>
          <a:p>
            <a:pPr>
              <a:defRPr sz="700">
                <a:solidFill>
                  <a:srgbClr val="0F172A"/>
                </a:solidFill>
              </a:defRPr>
            </a:pPr>
            <a:r>
              <a:t>Member C (GPT &amp; Decoding): ~1M-param causal GPT decoder, conditional decoding table, training &amp; rollout harness.</a:t>
            </a:r>
          </a:p>
          <a:p>
            <a:pPr>
              <a:defRPr sz="700">
                <a:solidFill>
                  <a:srgbClr val="0F172A"/>
                </a:solidFill>
              </a:defRPr>
            </a:pPr>
            <a:r>
              <a:t>Member D (Simulator &amp; Leaks): GARCH(1,1) simulator, analytic oracle QLIKE floor, 5 leakage channel switches.</a:t>
            </a:r>
          </a:p>
          <a:p>
            <a:pPr>
              <a:defRPr sz="700">
                <a:solidFill>
                  <a:srgbClr val="0F172A"/>
                </a:solidFill>
              </a:defRPr>
            </a:pPr>
            <a:r>
              <a:t>Member E (Stats &amp; Deliverables): Block bootstrap CIs, Holm-Bonferroni, TOST tests, Diebold-Mariano, slide &amp;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